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09728" cy="65288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CD6E0"/>
                </a:solidFill>
              </a:rPr>
              <a:t>Comprehensive Comparison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Supervised Machine Learning
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4572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5029200" cy="18288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Student: Muhammad Owais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Course: Machine Learning &amp;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Dataset: Titanic Survival (Classification)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Tools: Python | Scikit-learn | Pandas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5669280" cy="18288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Compare 7 supervised ML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198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Perform hyperparameter tuning (GridSearchCV)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1246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Evaluate with multiple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05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Identify best &amp; worst performing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Validate findings with research paper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Algorithms: KNN  |  Decision Tree  |  Logistic Regression  |  SVM  |  Random Forest  |  AdaBoost  |  Gradient Boosting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Titanic Survival Prediction — Binary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3840480" cy="521208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DATASET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105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Name: Titanic Passenger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Problem: Binary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04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Target: survived (0 = No, 1 = Yes)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51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Total Samples: 891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Features Used: 7 original + 2 engineered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449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91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CC71"/>
                </a:solidFill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38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pclass — Ticket class (1st/2nd/3rd)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856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sex — Gender (male/female)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325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age — Passenger 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793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sibsp — Siblings/spouses aboard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parch — Parents/children aboard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731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fare — Ticket 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0200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embarked — Port of embarkation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2669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family_size (engineered)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5138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  is_alone (engineered)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1280160"/>
            <a:ext cx="3749039" cy="521208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PREPROCESSING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18745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1. Missing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2148839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Age → filled with median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2386583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Embarked → filled with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262432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Fare → filled with median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293522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2. Encoding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3209543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sex: LabelEncoder (M=1, F=0)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344728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embarked: LabelEncoder (S/Q/C→2/1/0)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375818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3. Feature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032503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family_size = sibsp + parch + 1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27024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is_alone = 1 if family_size ==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58114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4. Train-Test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4855463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80% Train / 20%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509320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stratify=y (preserve class ratio)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540410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5. Feature Scaling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5678423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StandardScaler (fit on train only)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591616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· Used for KNN, LR, SVM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1280160"/>
            <a:ext cx="3611880" cy="246888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8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CLASS DISTRIBUTION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Not Survived (0)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2208" y="2176272"/>
            <a:ext cx="3108960" cy="365760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2208" y="2176272"/>
            <a:ext cx="1918228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221284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549 (61.6%)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2633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Survived (1)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22208" y="2980944"/>
            <a:ext cx="3108960" cy="365760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22208" y="2980944"/>
            <a:ext cx="119384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01752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342 (38.4%)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977639"/>
            <a:ext cx="361188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8" y="40690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KEY INSIGHTS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2208" y="446227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Females had 74% survival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22208" y="479145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1st class: 63% survival 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22208" y="512064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3rd class: only 24% survival 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22208" y="544982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Children under 5 had higher survival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2208" y="577900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Traveling alone → lower survival odds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Algorithms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6 Core + 1 Bonus Algorithm — All with GridSearchCV Hyperparameter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8892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2788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371600"/>
            <a:ext cx="25694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B4D8"/>
                </a:solidFill>
              </a:rPr>
              <a:t>KNN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47088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Type: Instance-based (lazy learner)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194560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Idea: Classify by majority vote of K nearest neighbors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542032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Tuned: n_neighbors, weights,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889504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Best K: determined by GridSearchCV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236976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Scaling: Required (StandardScaler)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80160"/>
            <a:ext cx="278892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280160"/>
            <a:ext cx="27889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371600"/>
            <a:ext cx="25694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ECC71"/>
                </a:solidFill>
              </a:rPr>
              <a:t>Decision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1847088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Type: Tree-based (rule learner)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94560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Idea: Recursive binary splits on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542032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Tuned: max_depth, criterion, min_samples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2889504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Criterion: Gini or Entropy impurity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236976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Scaling: NOT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280160"/>
            <a:ext cx="278892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280160"/>
            <a:ext cx="27889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371600"/>
            <a:ext cx="25694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39C12"/>
                </a:solidFill>
              </a:rPr>
              <a:t>Logistic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1847088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Type: Linear (probabilistic classifier)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194560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Idea: Log-odds modeled as linear combination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542032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Tuned: C (regularization), penalty (L1/L2)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889504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Solver: liblinear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236976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Scaling: Required (StandardScaler)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1280160"/>
            <a:ext cx="278892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280160"/>
            <a:ext cx="27889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0888" y="1371600"/>
            <a:ext cx="25694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B59B6"/>
                </a:solidFill>
              </a:rPr>
              <a:t>SVM (SVC)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1847088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Type: Margin-based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2194560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Idea: Find max-margin hyperplane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542032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Tuned: C, kernel (linear/rbf/poly), gamma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2889504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probability=True for AUC-ROC computation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3236976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Scaling: Required (StandardScaler)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931920"/>
            <a:ext cx="278892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" y="3931920"/>
            <a:ext cx="27889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" y="4023359"/>
            <a:ext cx="25694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ECC71"/>
                </a:solidFill>
              </a:rPr>
              <a:t>Random Forest
(Bagging)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" y="4498848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Type: Ensemble — Bagging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" y="4846320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Idea: Aggregate predictions of many trees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" y="5193792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Tuned: n_estimators, max_depth, max_features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" y="5541264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Reduces variance → prevents overfitting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" y="5888736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Feature importance available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3931920"/>
            <a:ext cx="278892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46120" y="3931920"/>
            <a:ext cx="2788920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55848" y="4023359"/>
            <a:ext cx="25694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91E8C"/>
                </a:solidFill>
              </a:rPr>
              <a:t>AdaBoost
(Boosting)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55848" y="4498848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Type: Ensemble — Boosting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846320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Idea: Sequentially correct previous errors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5193792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Tuned: n_estimators, learning_rate, algorithm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5848" y="5541264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Weak learners = shallow decision stumps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5848" y="5888736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Scaling: NOT required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931920"/>
            <a:ext cx="2788920" cy="2514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3931920"/>
            <a:ext cx="27889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3368" y="4023359"/>
            <a:ext cx="25694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39C12"/>
                </a:solidFill>
              </a:rPr>
              <a:t>Gradient Boosting
(BONUS)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4498848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Type: Ensemble — Boosting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4846320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Idea: Minimize loss via gradient descent in func. space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3368" y="5193792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Tuned: learning_rate, n_estimators, max_depth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541264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subsample for stochastic GB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3368" y="5888736"/>
            <a:ext cx="2606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Typically strongest single-model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Research Paper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Empirical Validation &amp; Comparison with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7589520" cy="25603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PAPER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Title  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4708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An Empirical Comparison of Supervised Learning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311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Authors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3113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Rich Caruana, Alexandru Niculescu-Mizil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151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Year   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15184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2006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Venue  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9923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ICML — 23rd International Conference on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83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Link   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8328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https://dl.acm.org/doi/10.1145/1143844.1143874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280160"/>
            <a:ext cx="3886200" cy="25603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PAPER KEY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84708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▸ Compared 10 algorithms on 11 datasets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85416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▸ Boosted trees best on most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52374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▸ Random Forest 2nd best overall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86207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▸ KNN consistently below 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20040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▸ No universal 'best' algorithm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353872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▸ AUC more informative than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MY WORK vs PAPER — COMPARISON 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480560"/>
            <a:ext cx="2377440" cy="329184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4498848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480560"/>
            <a:ext cx="4206240" cy="329184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4912" y="4498848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Paper (Caruana 2006)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4480560"/>
            <a:ext cx="4206240" cy="329184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76872" y="4498848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My Work (Titanic)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809744"/>
            <a:ext cx="23774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4828032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Dataset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4809744"/>
            <a:ext cx="42062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4912" y="4828032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11 UCI datasets (multi-domain)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809744"/>
            <a:ext cx="42062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872" y="4828032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Titanic (891 samples)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5138928"/>
            <a:ext cx="23774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" y="5157216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Best 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138928"/>
            <a:ext cx="42062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24912" y="5157216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Boosted Trees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5138928"/>
            <a:ext cx="42062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76872" y="5157216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Random Forest / Grad. Boosting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5468112"/>
            <a:ext cx="23774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" y="548640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KNN Performance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5468112"/>
            <a:ext cx="42062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4912" y="5486400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Below average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5468112"/>
            <a:ext cx="42062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76872" y="5486400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Moderate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5797296"/>
            <a:ext cx="23774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" y="5815583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SVM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1760" y="5797296"/>
            <a:ext cx="42062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24912" y="5815583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Competitive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5797296"/>
            <a:ext cx="42062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76872" y="5815583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Competitive (RBF kernel)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6126480"/>
            <a:ext cx="23774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" y="6144768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6126480"/>
            <a:ext cx="42062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24912" y="6144768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Good on linear 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03720" y="6126480"/>
            <a:ext cx="4206240" cy="329184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76872" y="6144768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Good (some linear structure)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6455664"/>
            <a:ext cx="23774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" y="6473952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Evaluation Metric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51760" y="6455664"/>
            <a:ext cx="42062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24912" y="6473952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AUC, Accuracy, Calibration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6455664"/>
            <a:ext cx="4206240" cy="329184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76872" y="6473952"/>
            <a:ext cx="40599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Acc, F1, AUC, Precision, Recall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All Models Evaluated on Accuracy, F1-Score, Precision, Recall &amp; AUC-ROC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37744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" y="1298448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80160"/>
            <a:ext cx="132588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1298448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280160"/>
            <a:ext cx="118872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2503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280160"/>
            <a:ext cx="118872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280160"/>
            <a:ext cx="118872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280160"/>
            <a:ext cx="128016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35824" y="1298448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280160"/>
            <a:ext cx="128016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1298448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CV Acc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1280160"/>
            <a:ext cx="1645920" cy="36576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7584" y="1298448"/>
            <a:ext cx="1536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691640"/>
            <a:ext cx="237744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171907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1691640"/>
            <a:ext cx="132588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1719072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80.45%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1691640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32503" y="171907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78.90%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1691640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66944" y="171907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72.15%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1691640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3" y="171907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75.40%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1691640"/>
            <a:ext cx="128016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35824" y="1719072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86.20%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691640"/>
            <a:ext cx="128016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19072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79.30%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1691640"/>
            <a:ext cx="16459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87584" y="171907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2084832"/>
            <a:ext cx="237744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" y="211226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40" y="2084832"/>
            <a:ext cx="132588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60904" y="2112264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78.77%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2084832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3" y="2112264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74.20%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2084832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66944" y="2112264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73.80%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2084832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2112264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74.00%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084832"/>
            <a:ext cx="128016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5824" y="2112264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79.50%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06840" y="2084832"/>
            <a:ext cx="128016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61704" y="2112264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77.90%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2084832"/>
            <a:ext cx="16459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87584" y="2112264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2478024"/>
            <a:ext cx="237744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" y="2505456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2478024"/>
            <a:ext cx="132588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60904" y="2505456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81.01%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7639" y="2478024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32503" y="2505456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79.50%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0" y="2478024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66944" y="2505456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74.60%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2478024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01383" y="2505456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77.00%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2478024"/>
            <a:ext cx="128016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35824" y="2505456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87.30%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06840" y="2478024"/>
            <a:ext cx="128016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61704" y="2505456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80.10%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332720" y="2478024"/>
            <a:ext cx="16459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87584" y="2505456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2871216"/>
            <a:ext cx="237744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3464" y="289864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SVM (SVC)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40" y="2871216"/>
            <a:ext cx="132588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60904" y="2898648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82.68%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77639" y="2871216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32503" y="289864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82.10%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12080" y="2871216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66944" y="289864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75.40%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46520" y="2871216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01383" y="289864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78.60%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80960" y="2871216"/>
            <a:ext cx="128016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35824" y="2898648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88.90%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06840" y="2871216"/>
            <a:ext cx="128016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61704" y="2898648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81.70%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32720" y="2871216"/>
            <a:ext cx="16459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87584" y="2898648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3264408"/>
            <a:ext cx="237744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3464" y="32918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Random Forest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06040" y="3264408"/>
            <a:ext cx="132588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60904" y="3291840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83.80%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77639" y="3264408"/>
            <a:ext cx="118872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032503" y="3291840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83.40%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12080" y="3264408"/>
            <a:ext cx="118872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66944" y="3291840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77.50%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46520" y="3264408"/>
            <a:ext cx="118872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01383" y="3291840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80.30%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80960" y="3264408"/>
            <a:ext cx="128016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35824" y="3291840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90.50%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06840" y="3264408"/>
            <a:ext cx="128016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61704" y="3291840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82.40%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332720" y="3264408"/>
            <a:ext cx="1645920" cy="384048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05872" y="3328416"/>
            <a:ext cx="1499616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387584" y="329184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BEST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3657600"/>
            <a:ext cx="237744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3464" y="368503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AdaBoost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06040" y="3657600"/>
            <a:ext cx="132588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60904" y="3685032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82.12%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77639" y="3657600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032503" y="368503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81.30%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212080" y="3657600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66944" y="368503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75.80%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46520" y="3657600"/>
            <a:ext cx="11887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01383" y="368503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78.40%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80960" y="3657600"/>
            <a:ext cx="128016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35824" y="3685032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88.10%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06840" y="3657600"/>
            <a:ext cx="128016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61704" y="3685032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81.20%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332720" y="3657600"/>
            <a:ext cx="1645920" cy="384048"/>
          </a:xfrm>
          <a:prstGeom prst="rect">
            <a:avLst/>
          </a:prstGeom>
          <a:solidFill>
            <a:srgbClr val="0D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387584" y="368503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28600" y="4050791"/>
            <a:ext cx="237744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83464" y="407822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</a:rPr>
              <a:t>Gradient Boosting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606040" y="4050791"/>
            <a:ext cx="132588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60904" y="4078224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</a:rPr>
              <a:t>83.24%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977639" y="4050791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032503" y="4078224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</a:rPr>
              <a:t>82.70%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212080" y="4050791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266944" y="4078224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</a:rPr>
              <a:t>76.90%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46520" y="4050791"/>
            <a:ext cx="11887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01383" y="4078224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</a:rPr>
              <a:t>79.70%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680960" y="4050791"/>
            <a:ext cx="128016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735824" y="4078224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</a:rPr>
              <a:t>90.10%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06840" y="4050791"/>
            <a:ext cx="128016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61704" y="4078224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</a:rPr>
              <a:t>82.10%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332720" y="4050791"/>
            <a:ext cx="1645920" cy="384048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405872" y="4114800"/>
            <a:ext cx="1499616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387584" y="4078224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D1B2A"/>
                </a:solidFill>
              </a:rPr>
              <a:t>BONUS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28600" y="45079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BEST MODEL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4507992"/>
            <a:ext cx="1371600" cy="320040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8600" y="450799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BEST MODEL: Random Forest  |  Accuracy: 83.80%  |  F1: 80.30%  |  AUC: 90.50%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28600" y="48920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WORST MODEL: Decision Tree  |  Accuracy: 78.77%  |  F1: 74.00%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80960" y="44622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ACCURACY AT A GLANCE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89520" y="4892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KNN   DT    LR    SVM   RF    Ada   GB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589520" y="51937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80.5  78.8  81.0  82.7  83.8  82.1  83.2 (%)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28600" y="5349240"/>
            <a:ext cx="11887200" cy="128016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1480" y="5394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CONFUSION MATRIX INSIGHTS (Best Model — Random Forest)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57607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TP (correctly predicted survived) = HIGH  |  TN (correctly predicted not survived) = HIGH  |  FP &amp; FN minimized compared to all single classifiers  |  Precision = 83.4% means when RF predicts survival, it's right 83.4% of the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Key Learnings &amp; Takeaways from Comparative ML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5577840" cy="1645920"/>
          </a:xfrm>
          <a:prstGeom prst="rect">
            <a:avLst/>
          </a:prstGeom>
          <a:solidFill>
            <a:srgbClr val="16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55778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WINNER: Random Forest (Bagging)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Accuracy: 83.80%  |  F1-Score: 80.30%  |  AUC-ROC: 90.50%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Why winner: Non-linear decision boundary + small dataset variance control via bagging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5943600" cy="1645920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59436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4416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</a:rPr>
              <a:t>WEAKEST: Decision Tree (Single)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013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Accuracy: 78.77%  |  F1-Score: 74.00%  |  AUC-ROC: 79.50%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Why weakest: Single tree overfits, sensitive to noise, no ensemble benefit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108960"/>
            <a:ext cx="5577840" cy="2103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00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OVERFITTING / UNDERFITTING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301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Decision Tree (deep)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630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Overfitting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931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KNN (K=1)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Overfitting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33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Logistic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33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Slight Underfitting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354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5354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Well Balanced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8371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Gradient Boosting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Well Balanced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108960"/>
            <a:ext cx="5943600" cy="2103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200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KEY LEARNINGS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301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Ensemble &gt; Single classifiers in almost all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931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Hyperparameter tuning critically improves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2336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Use AUC-ROC + F1, not just accuracy (class imbalance)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53542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Feature engineering (family_size) boosted tree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8371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Paper confirmed: no universal best algorithm exists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1389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Cross-validation prevents overly optimistic estimates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394960"/>
            <a:ext cx="11750040" cy="123444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5394960"/>
            <a:ext cx="117500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468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Paper Connection: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5468112"/>
            <a:ext cx="9326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Caruana et al. (2006) found Boosted Trees as best across 11 datasets. In my Titanic study, Random Forest wins — consistent with the paper's finding that ensemble methods dominate. The slight difference (Forest vs Boosting) is due to dataset size and non-linear feature interactions specific to Titanic survival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